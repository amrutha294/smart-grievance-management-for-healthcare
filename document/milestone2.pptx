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  <p:sldId id="271" r:id="rId14"/>
    <p:sldId id="268" r:id="rId15"/>
    <p:sldId id="269" r:id="rId16"/>
  </p:sldIdLst>
  <p:sldSz cx="14630400" cy="8229600"/>
  <p:notesSz cx="8229600" cy="146304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Gelasio" panose="020B0604020202020204" charset="0"/>
      <p:regular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157" autoAdjust="0"/>
  </p:normalViewPr>
  <p:slideViewPr>
    <p:cSldViewPr snapToGrid="0" snapToObjects="1">
      <p:cViewPr varScale="1">
        <p:scale>
          <a:sx n="63" d="100"/>
          <a:sy n="63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83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Resolve IT: Smart Grievance and Feedback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 by A. Amrutha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6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043" y="566499"/>
            <a:ext cx="4265295" cy="418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Overview: Resolve IT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21043" y="1185863"/>
            <a:ext cx="770191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 IT is an innovative, smart grievance management system specifically engineered for healthcare environments. It centralizes all feedback and complaint records, providing hospital administrators with a streamlined, efficient approach to patient satisfaction and operational excellence.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21043" y="1979414"/>
            <a:ext cx="7701915" cy="1322189"/>
          </a:xfrm>
          <a:prstGeom prst="roundRect">
            <a:avLst>
              <a:gd name="adj" fmla="val 42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2489" y="2120860"/>
            <a:ext cx="401717" cy="401717"/>
          </a:xfrm>
          <a:prstGeom prst="roundRect">
            <a:avLst>
              <a:gd name="adj" fmla="val 22760017"/>
            </a:avLst>
          </a:prstGeom>
          <a:solidFill>
            <a:srgbClr val="E5E5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979" y="2231350"/>
            <a:ext cx="180737" cy="180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2489" y="2656403"/>
            <a:ext cx="167401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Dashboard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2489" y="2945844"/>
            <a:ext cx="7419023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in and access a personal dashboard to manage all your interactions and submitted items.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21043" y="3435429"/>
            <a:ext cx="7701915" cy="1322189"/>
          </a:xfrm>
          <a:prstGeom prst="roundRect">
            <a:avLst>
              <a:gd name="adj" fmla="val 42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2489" y="3576876"/>
            <a:ext cx="401717" cy="401717"/>
          </a:xfrm>
          <a:prstGeom prst="roundRect">
            <a:avLst>
              <a:gd name="adj" fmla="val 22760017"/>
            </a:avLst>
          </a:prstGeom>
          <a:solidFill>
            <a:srgbClr val="E5E5E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979" y="3687366"/>
            <a:ext cx="180737" cy="1807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2489" y="4112419"/>
            <a:ext cx="167401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Submit Grievances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62489" y="4401860"/>
            <a:ext cx="7419023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Easily submit complaints related to various hospital services with clear categorization options.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21043" y="4891445"/>
            <a:ext cx="7701915" cy="1322189"/>
          </a:xfrm>
          <a:prstGeom prst="roundRect">
            <a:avLst>
              <a:gd name="adj" fmla="val 42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62489" y="5032891"/>
            <a:ext cx="401717" cy="401717"/>
          </a:xfrm>
          <a:prstGeom prst="roundRect">
            <a:avLst>
              <a:gd name="adj" fmla="val 22760017"/>
            </a:avLst>
          </a:prstGeom>
          <a:solidFill>
            <a:srgbClr val="E5E5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2979" y="5143381"/>
            <a:ext cx="180737" cy="1807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2489" y="5568434"/>
            <a:ext cx="167401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Feedback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62489" y="5857875"/>
            <a:ext cx="7419023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Offer constructive feedback on experiences to continuously help improve service quality and patient care.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1043" y="6347460"/>
            <a:ext cx="7701915" cy="1322189"/>
          </a:xfrm>
          <a:prstGeom prst="roundRect">
            <a:avLst>
              <a:gd name="adj" fmla="val 42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62489" y="6488906"/>
            <a:ext cx="401717" cy="401717"/>
          </a:xfrm>
          <a:prstGeom prst="roundRect">
            <a:avLst>
              <a:gd name="adj" fmla="val 22760017"/>
            </a:avLst>
          </a:prstGeom>
          <a:solidFill>
            <a:srgbClr val="E5E5E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979" y="6599396"/>
            <a:ext cx="180737" cy="1807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2489" y="7024449"/>
            <a:ext cx="167401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 Status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62489" y="7313890"/>
            <a:ext cx="7419023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real-time status statistics including pending, in-progress, and resolved issues for complete transparency.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72716"/>
            <a:ext cx="7556421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Transforming Healthcare: Benefits for Hospitals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80190" y="1915358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Resolve IT system empowers hospitals to significantly enhance operational efficiency and elevate patient care through seamless digital transformation.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280190" y="2552700"/>
            <a:ext cx="7556421" cy="1115497"/>
          </a:xfrm>
          <a:prstGeom prst="roundRect">
            <a:avLst>
              <a:gd name="adj" fmla="val 655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4950" y="2552700"/>
            <a:ext cx="60960" cy="1115497"/>
          </a:xfrm>
          <a:prstGeom prst="roundRect">
            <a:avLst>
              <a:gd name="adj" fmla="val 101581"/>
            </a:avLst>
          </a:prstGeom>
          <a:solidFill>
            <a:srgbClr val="E5E5E0"/>
          </a:solidFill>
          <a:ln/>
        </p:spPr>
      </p:sp>
      <p:sp>
        <p:nvSpPr>
          <p:cNvPr id="7" name="Text 4"/>
          <p:cNvSpPr/>
          <p:nvPr/>
        </p:nvSpPr>
        <p:spPr>
          <a:xfrm>
            <a:off x="6488549" y="2715339"/>
            <a:ext cx="19928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Efficient Digital Records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88549" y="3034070"/>
            <a:ext cx="71854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 all records digitally, drastically reducing paperwork, minimizing manual errors, and ensuring data integrity.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80190" y="3815596"/>
            <a:ext cx="7556421" cy="1115497"/>
          </a:xfrm>
          <a:prstGeom prst="roundRect">
            <a:avLst>
              <a:gd name="adj" fmla="val 655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4950" y="3815596"/>
            <a:ext cx="60960" cy="1115497"/>
          </a:xfrm>
          <a:prstGeom prst="roundRect">
            <a:avLst>
              <a:gd name="adj" fmla="val 101581"/>
            </a:avLst>
          </a:prstGeom>
          <a:solidFill>
            <a:srgbClr val="E5E5E0"/>
          </a:solidFill>
          <a:ln/>
        </p:spPr>
      </p:sp>
      <p:sp>
        <p:nvSpPr>
          <p:cNvPr id="11" name="Text 8"/>
          <p:cNvSpPr/>
          <p:nvPr/>
        </p:nvSpPr>
        <p:spPr>
          <a:xfrm>
            <a:off x="6488549" y="3978235"/>
            <a:ext cx="211990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Response Delays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8549" y="4296966"/>
            <a:ext cx="71854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 processes to ensure quicker resolution times for complaints and feedback, improving overall responsiveness.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80190" y="5078492"/>
            <a:ext cx="7556421" cy="1115497"/>
          </a:xfrm>
          <a:prstGeom prst="roundRect">
            <a:avLst>
              <a:gd name="adj" fmla="val 655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4950" y="5078492"/>
            <a:ext cx="60960" cy="1115497"/>
          </a:xfrm>
          <a:prstGeom prst="roundRect">
            <a:avLst>
              <a:gd name="adj" fmla="val 101581"/>
            </a:avLst>
          </a:prstGeom>
          <a:solidFill>
            <a:srgbClr val="E5E5E0"/>
          </a:solidFill>
          <a:ln/>
        </p:spPr>
      </p:sp>
      <p:sp>
        <p:nvSpPr>
          <p:cNvPr id="15" name="Text 12"/>
          <p:cNvSpPr/>
          <p:nvPr/>
        </p:nvSpPr>
        <p:spPr>
          <a:xfrm>
            <a:off x="6488549" y="5241131"/>
            <a:ext cx="242863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Patient Satisfaction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88549" y="5559862"/>
            <a:ext cx="71854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Address patient concerns promptly and effectively, leading to a consistently better patient experience and higher trust.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80190" y="6341388"/>
            <a:ext cx="7556421" cy="1115497"/>
          </a:xfrm>
          <a:prstGeom prst="roundRect">
            <a:avLst>
              <a:gd name="adj" fmla="val 655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4950" y="6341388"/>
            <a:ext cx="60960" cy="1115497"/>
          </a:xfrm>
          <a:prstGeom prst="roundRect">
            <a:avLst>
              <a:gd name="adj" fmla="val 101581"/>
            </a:avLst>
          </a:prstGeom>
          <a:solidFill>
            <a:srgbClr val="E5E5E0"/>
          </a:solidFill>
          <a:ln/>
        </p:spPr>
      </p:sp>
      <p:sp>
        <p:nvSpPr>
          <p:cNvPr id="19" name="Text 16"/>
          <p:cNvSpPr/>
          <p:nvPr/>
        </p:nvSpPr>
        <p:spPr>
          <a:xfrm>
            <a:off x="6488549" y="6504027"/>
            <a:ext cx="204025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Enhanced Accountability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88549" y="6822758"/>
            <a:ext cx="71854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Foster greater responsibility and transparency among staff and departments, ensuring every issue is tracked and managed.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6185"/>
            <a:ext cx="753391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Solution: Key Features of Resolve 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661755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solution offers a comprehensive web platform meticulously designed to manage patient grievances and feedback with unparalleled effectiveness and ease.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63353"/>
            <a:ext cx="4347567" cy="589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189" y="2800469"/>
            <a:ext cx="211038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Web Platform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1189" y="3119199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unified hub for submitting and managing all patient grievances and feedback, accessible from anywhere.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2063353"/>
            <a:ext cx="4347567" cy="5897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88756" y="280046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Login System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288756" y="3119199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Authenticated user access ensures data privacy and provides personalized dashboards for every user.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063353"/>
            <a:ext cx="4347567" cy="5897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36323" y="2800469"/>
            <a:ext cx="212764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Status Visibility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636323" y="3119199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the live progress of all submitted complaints, ensuring transparency for both patients and administrators.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38086"/>
            <a:ext cx="4347567" cy="5897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1189" y="4475202"/>
            <a:ext cx="190464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Categorized Grievances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41189" y="4793933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Efficiently categorize complaints based on specific hospital departments, facilitating targeted and rapid resolution.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3738086"/>
            <a:ext cx="4347567" cy="5897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88756" y="4475202"/>
            <a:ext cx="230647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Dedicated Feedback Module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5288756" y="4793933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specialized tool for collecting and analyzing feedback, driving continuous service quality improvement initiatives.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738086"/>
            <a:ext cx="4347567" cy="58971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36323" y="447520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Modern UI with React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9636323" y="4793933"/>
            <a:ext cx="405276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Developed with React for a smooth, intuitive, and highly responsive user experience across all devices.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12819"/>
            <a:ext cx="4347567" cy="58971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41189" y="61499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Architecture</a:t>
            </a:r>
            <a:endParaRPr lang="en-US" sz="1450" dirty="0"/>
          </a:p>
        </p:txBody>
      </p:sp>
      <p:sp>
        <p:nvSpPr>
          <p:cNvPr id="24" name="Text 15"/>
          <p:cNvSpPr/>
          <p:nvPr/>
        </p:nvSpPr>
        <p:spPr>
          <a:xfrm>
            <a:off x="941189" y="6468666"/>
            <a:ext cx="405276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Designed for future expansion, allowing seamless integration of backend services, an administrative panel, and advanced database functionalities.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4878"/>
            <a:ext cx="101210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Workflow: From Submission to Resolution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54756"/>
            <a:ext cx="130428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Resolve IT system ensures a clear, efficient, and transparent process for handling every grievance and feedback submission, from the initial entry to the final resolution.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1999"/>
            <a:ext cx="181451" cy="1814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2924889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0613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Logs In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453646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access to the system through a personalized login portal.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26" y="2661999"/>
            <a:ext cx="181451" cy="18145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05926" y="2924889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0" name="Text 6"/>
          <p:cNvSpPr/>
          <p:nvPr/>
        </p:nvSpPr>
        <p:spPr>
          <a:xfrm>
            <a:off x="7405926" y="30613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Accesses Dashboard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405926" y="3453646"/>
            <a:ext cx="643068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personalized overview of all interactions, submissions, and their current statuses.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74356"/>
            <a:ext cx="181451" cy="18145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3790" y="4637246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4" name="Text 9"/>
          <p:cNvSpPr/>
          <p:nvPr/>
        </p:nvSpPr>
        <p:spPr>
          <a:xfrm>
            <a:off x="793790" y="4773692"/>
            <a:ext cx="294513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Submits Grievance/Feedback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5166003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Easy and intuitive submission of concerns or valuable feedback.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926" y="4374356"/>
            <a:ext cx="181451" cy="18145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05926" y="4637246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8" name="Text 12"/>
          <p:cNvSpPr/>
          <p:nvPr/>
        </p:nvSpPr>
        <p:spPr>
          <a:xfrm>
            <a:off x="7405926" y="477369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Reviews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05926" y="5166003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Dedicated hospital staff promptly addresses and triages the submitted issue.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796439"/>
            <a:ext cx="181451" cy="181451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93790" y="6059329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2" name="Text 15"/>
          <p:cNvSpPr/>
          <p:nvPr/>
        </p:nvSpPr>
        <p:spPr>
          <a:xfrm>
            <a:off x="793790" y="619577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Updates Status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93790" y="6588085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Administrators provide continuous progress updates, maintaining transparency.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5926" y="5796439"/>
            <a:ext cx="181451" cy="18145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05926" y="6059329"/>
            <a:ext cx="6430685" cy="2286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6" name="Text 18"/>
          <p:cNvSpPr/>
          <p:nvPr/>
        </p:nvSpPr>
        <p:spPr>
          <a:xfrm>
            <a:off x="7405926" y="619577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Notified</a:t>
            </a:r>
            <a:endParaRPr lang="en-US" sz="1750" dirty="0"/>
          </a:p>
        </p:txBody>
      </p:sp>
      <p:sp>
        <p:nvSpPr>
          <p:cNvPr id="27" name="Text 19"/>
          <p:cNvSpPr/>
          <p:nvPr/>
        </p:nvSpPr>
        <p:spPr>
          <a:xfrm>
            <a:off x="7405926" y="6588085"/>
            <a:ext cx="643068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resolution is clearly communicated to the user, closing the feedback loop effectively.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3022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614005"/>
            <a:ext cx="7580948" cy="13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 Stack: Powering Resolve IT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81526" y="2344579"/>
            <a:ext cx="7580948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 IT is built using a robust and modern technology stack to ensure optimal performance, scalability, and a seamless user experience for all stakeholders in the healthcare system.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81526" y="3868698"/>
            <a:ext cx="351805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HTML, CSS, React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1526" y="4304109"/>
            <a:ext cx="351805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Java Spring Boot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1526" y="4739521"/>
            <a:ext cx="351805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MySQL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1526" y="5174932"/>
            <a:ext cx="3518059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GitHub, VS Code, Postman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035" y="3918942"/>
            <a:ext cx="3518059" cy="3518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954"/>
            <a:ext cx="865739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UI/UX Design Principles: User-Centric Approach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86627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design philosophy is deeply rooted in creating an intuitive, efficient, and user-friendly interface that caters to the needs of all users within the hospital environment.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2019300"/>
            <a:ext cx="13042821" cy="960477"/>
          </a:xfrm>
          <a:prstGeom prst="roundRect">
            <a:avLst>
              <a:gd name="adj" fmla="val 69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042160"/>
            <a:ext cx="635079" cy="914757"/>
          </a:xfrm>
          <a:prstGeom prst="roundRect">
            <a:avLst>
              <a:gd name="adj" fmla="val 6181"/>
            </a:avLst>
          </a:prstGeom>
          <a:solidFill>
            <a:srgbClr val="E8E8E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17" y="2380417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0439" y="2200870"/>
            <a:ext cx="227135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&amp; Modern Interface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10439" y="2544128"/>
            <a:ext cx="120446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Aesthetically pleasing design with intuitive layouts for effortless navigation and a pleasant user experience.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3790" y="3138488"/>
            <a:ext cx="13042821" cy="960477"/>
          </a:xfrm>
          <a:prstGeom prst="roundRect">
            <a:avLst>
              <a:gd name="adj" fmla="val 69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6650" y="3161348"/>
            <a:ext cx="635079" cy="914757"/>
          </a:xfrm>
          <a:prstGeom prst="roundRect">
            <a:avLst>
              <a:gd name="adj" fmla="val 6181"/>
            </a:avLst>
          </a:prstGeom>
          <a:solidFill>
            <a:srgbClr val="E8E8E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17" y="3499604"/>
            <a:ext cx="238125" cy="238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0439" y="332005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Simple Navigation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10439" y="3663315"/>
            <a:ext cx="120446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Clear, well-defined module tabs ensure effortless browsing and quick access to desired sections.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3790" y="4257675"/>
            <a:ext cx="13042821" cy="960477"/>
          </a:xfrm>
          <a:prstGeom prst="roundRect">
            <a:avLst>
              <a:gd name="adj" fmla="val 69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6650" y="4280535"/>
            <a:ext cx="635079" cy="914757"/>
          </a:xfrm>
          <a:prstGeom prst="roundRect">
            <a:avLst>
              <a:gd name="adj" fmla="val 6181"/>
            </a:avLst>
          </a:prstGeom>
          <a:solidFill>
            <a:srgbClr val="E8E8E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17" y="4618792"/>
            <a:ext cx="238125" cy="238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10439" y="44392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Consistent Styling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10439" y="4782503"/>
            <a:ext cx="120446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 colors and consistent styling across the platform enhance readability and maintain brand identity.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93790" y="5376863"/>
            <a:ext cx="13042821" cy="960477"/>
          </a:xfrm>
          <a:prstGeom prst="roundRect">
            <a:avLst>
              <a:gd name="adj" fmla="val 69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6650" y="5399723"/>
            <a:ext cx="635079" cy="914757"/>
          </a:xfrm>
          <a:prstGeom prst="roundRect">
            <a:avLst>
              <a:gd name="adj" fmla="val 6181"/>
            </a:avLst>
          </a:prstGeom>
          <a:solidFill>
            <a:srgbClr val="E8E8E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17" y="5737979"/>
            <a:ext cx="238125" cy="238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10439" y="55584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Easy Forms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10439" y="5901690"/>
            <a:ext cx="120446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Simplified grievance and feedback submission processes minimize user effort and maximize completion rates.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93790" y="6496050"/>
            <a:ext cx="13042821" cy="960477"/>
          </a:xfrm>
          <a:prstGeom prst="roundRect">
            <a:avLst>
              <a:gd name="adj" fmla="val 69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16650" y="6518910"/>
            <a:ext cx="635079" cy="914757"/>
          </a:xfrm>
          <a:prstGeom prst="roundRect">
            <a:avLst>
              <a:gd name="adj" fmla="val 6181"/>
            </a:avLst>
          </a:prstGeom>
          <a:solidFill>
            <a:srgbClr val="E8E8E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17" y="6857167"/>
            <a:ext cx="238125" cy="238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10439" y="66776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Quick Status Overview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10439" y="7020878"/>
            <a:ext cx="120446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intuitive dashboard is designed for immediate and transparent checks of complaint statuses.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3486"/>
            <a:ext cx="1032510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Document: Current Development Status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007829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are proud to announce that all core UI/UX features for Resolve IT have been successfully completed, providing a robust and user-friendly foundation for the system.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50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66945" y="3111190"/>
            <a:ext cx="8552987" cy="38949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4291" y="4285536"/>
            <a:ext cx="286750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1410" y="5580340"/>
            <a:ext cx="1302758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4291" y="6258401"/>
            <a:ext cx="286750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BC33AAA-72FB-7E62-356A-15A6F9EEC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573048"/>
              </p:ext>
            </p:extLst>
          </p:nvPr>
        </p:nvGraphicFramePr>
        <p:xfrm>
          <a:off x="994291" y="2624573"/>
          <a:ext cx="12404717" cy="5268104"/>
        </p:xfrm>
        <a:graphic>
          <a:graphicData uri="http://schemas.openxmlformats.org/drawingml/2006/table">
            <a:tbl>
              <a:tblPr/>
              <a:tblGrid>
                <a:gridCol w="1389709">
                  <a:extLst>
                    <a:ext uri="{9D8B030D-6E8A-4147-A177-3AD203B41FA5}">
                      <a16:colId xmlns:a16="http://schemas.microsoft.com/office/drawing/2014/main" val="4007879129"/>
                    </a:ext>
                  </a:extLst>
                </a:gridCol>
                <a:gridCol w="3146810">
                  <a:extLst>
                    <a:ext uri="{9D8B030D-6E8A-4147-A177-3AD203B41FA5}">
                      <a16:colId xmlns:a16="http://schemas.microsoft.com/office/drawing/2014/main" val="2498671021"/>
                    </a:ext>
                  </a:extLst>
                </a:gridCol>
                <a:gridCol w="5048480">
                  <a:extLst>
                    <a:ext uri="{9D8B030D-6E8A-4147-A177-3AD203B41FA5}">
                      <a16:colId xmlns:a16="http://schemas.microsoft.com/office/drawing/2014/main" val="2278644055"/>
                    </a:ext>
                  </a:extLst>
                </a:gridCol>
                <a:gridCol w="2819718">
                  <a:extLst>
                    <a:ext uri="{9D8B030D-6E8A-4147-A177-3AD203B41FA5}">
                      <a16:colId xmlns:a16="http://schemas.microsoft.com/office/drawing/2014/main" val="758111488"/>
                    </a:ext>
                  </a:extLst>
                </a:gridCol>
              </a:tblGrid>
              <a:tr h="395536">
                <a:tc>
                  <a:txBody>
                    <a:bodyPr/>
                    <a:lstStyle/>
                    <a:p>
                      <a:pPr algn="r"/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Module / Feature</a:t>
                      </a:r>
                      <a:endParaRPr lang="en-IN" sz="1400" dirty="0"/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Description</a:t>
                      </a:r>
                      <a:endParaRPr lang="en-IN" sz="1400"/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Status</a:t>
                      </a:r>
                      <a:endParaRPr lang="en-IN" sz="1400"/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930745"/>
                  </a:ext>
                </a:extLst>
              </a:tr>
              <a:tr h="651439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1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Home Page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system overview with options for login and registration.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358646"/>
                  </a:ext>
                </a:extLst>
              </a:tr>
              <a:tr h="523756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2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User Authentication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Secure login and registration for patients and admins.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5666"/>
                  </a:ext>
                </a:extLst>
              </a:tr>
              <a:tr h="651439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3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Patient Dashboard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Allows patients to view grievances, track status, and navigate features.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23616"/>
                  </a:ext>
                </a:extLst>
              </a:tr>
              <a:tr h="523756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4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Admin Dashboard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Enables admins to view and manage all grievances.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65251"/>
                  </a:ext>
                </a:extLst>
              </a:tr>
              <a:tr h="651439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5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Grievance Submission Form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Allows patients to submit grievances with details and attachments.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457683"/>
                  </a:ext>
                </a:extLst>
              </a:tr>
              <a:tr h="52375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6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Grievance Status Tracking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Shows status as Pending, In Progress, and Resolved.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101835"/>
                  </a:ext>
                </a:extLst>
              </a:tr>
              <a:tr h="52375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7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Feedback Submission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Allows patients to submit feedback on hospital services.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25458"/>
                  </a:ext>
                </a:extLst>
              </a:tr>
              <a:tr h="299471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8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User Profile Module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Displays user profile details.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272572"/>
                  </a:ext>
                </a:extLst>
              </a:tr>
              <a:tr h="52375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9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Dark &amp; Light Theme Mode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Provides theme switching for better user experience.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Completed</a:t>
                      </a:r>
                    </a:p>
                  </a:txBody>
                  <a:tcPr marL="71524" marR="71524" marT="35762" marB="357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2498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960239" y="-506271"/>
            <a:ext cx="13027581" cy="7138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734675" y="3769995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34675" y="4943713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734675" y="6371511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F848AC9-4F7B-C985-6549-B9E092145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75220"/>
              </p:ext>
            </p:extLst>
          </p:nvPr>
        </p:nvGraphicFramePr>
        <p:xfrm>
          <a:off x="642701" y="838497"/>
          <a:ext cx="13027581" cy="6552605"/>
        </p:xfrm>
        <a:graphic>
          <a:graphicData uri="http://schemas.openxmlformats.org/drawingml/2006/table">
            <a:tbl>
              <a:tblPr/>
              <a:tblGrid>
                <a:gridCol w="1988073">
                  <a:extLst>
                    <a:ext uri="{9D8B030D-6E8A-4147-A177-3AD203B41FA5}">
                      <a16:colId xmlns:a16="http://schemas.microsoft.com/office/drawing/2014/main" val="2056948368"/>
                    </a:ext>
                  </a:extLst>
                </a:gridCol>
                <a:gridCol w="4039863">
                  <a:extLst>
                    <a:ext uri="{9D8B030D-6E8A-4147-A177-3AD203B41FA5}">
                      <a16:colId xmlns:a16="http://schemas.microsoft.com/office/drawing/2014/main" val="3353648811"/>
                    </a:ext>
                  </a:extLst>
                </a:gridCol>
                <a:gridCol w="4039863">
                  <a:extLst>
                    <a:ext uri="{9D8B030D-6E8A-4147-A177-3AD203B41FA5}">
                      <a16:colId xmlns:a16="http://schemas.microsoft.com/office/drawing/2014/main" val="1323688115"/>
                    </a:ext>
                  </a:extLst>
                </a:gridCol>
                <a:gridCol w="2959782">
                  <a:extLst>
                    <a:ext uri="{9D8B030D-6E8A-4147-A177-3AD203B41FA5}">
                      <a16:colId xmlns:a16="http://schemas.microsoft.com/office/drawing/2014/main" val="1465076989"/>
                    </a:ext>
                  </a:extLst>
                </a:gridCol>
              </a:tblGrid>
              <a:tr h="69928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S.No</a:t>
                      </a:r>
                      <a:endParaRPr lang="en-IN" sz="1600"/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Module / Feature</a:t>
                      </a:r>
                      <a:endParaRPr lang="en-IN" sz="1600" dirty="0"/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Description</a:t>
                      </a:r>
                      <a:endParaRPr lang="en-IN" sz="1600"/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Status</a:t>
                      </a:r>
                      <a:endParaRPr lang="en-IN" sz="1600" dirty="0"/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803427"/>
                  </a:ext>
                </a:extLst>
              </a:tr>
              <a:tr h="915635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1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Grievance Status Update (Admin)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Admin can update grievance progress (Pending → In Progress → Resolved).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053511"/>
                  </a:ext>
                </a:extLst>
              </a:tr>
              <a:tr h="640209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2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Grievance Analytics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Displays grievance data using charts for analysis.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32961"/>
                  </a:ext>
                </a:extLst>
              </a:tr>
              <a:tr h="843058">
                <a:tc>
                  <a:txBody>
                    <a:bodyPr/>
                    <a:lstStyle/>
                    <a:p>
                      <a:pPr algn="r"/>
                      <a:r>
                        <a:rPr lang="en-IN" sz="1600" dirty="0"/>
                        <a:t>3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Admin Feedback Viewing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Admin can view all feedback submitted by users.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417836"/>
                  </a:ext>
                </a:extLst>
              </a:tr>
              <a:tr h="640209">
                <a:tc>
                  <a:txBody>
                    <a:bodyPr/>
                    <a:lstStyle/>
                    <a:p>
                      <a:pPr algn="r"/>
                      <a:r>
                        <a:rPr lang="en-IN" sz="1600" dirty="0"/>
                        <a:t>4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File Upload Support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Allows uploading files with grievances.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832567"/>
                  </a:ext>
                </a:extLst>
              </a:tr>
              <a:tr h="640209">
                <a:tc>
                  <a:txBody>
                    <a:bodyPr/>
                    <a:lstStyle/>
                    <a:p>
                      <a:pPr algn="r"/>
                      <a:r>
                        <a:rPr lang="en-IN" sz="1600" dirty="0"/>
                        <a:t>5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File download/View Support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Admin can view or download attached files.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137691"/>
                  </a:ext>
                </a:extLst>
              </a:tr>
              <a:tr h="893579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6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Secure REST API Integration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Ensures safe communication between frontend and backend.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004330"/>
                  </a:ext>
                </a:extLst>
              </a:tr>
              <a:tr h="640209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7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Database Management (MySQL)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Stores user, grievance, and feedback data securely.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702314"/>
                  </a:ext>
                </a:extLst>
              </a:tr>
              <a:tr h="640209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8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Role-Based Access Control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Controls access for Admin and Patient roles.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Completed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2034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8690"/>
            <a:ext cx="56222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Architecture: Resolve IT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682948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 IT's architecture is built on a modular, layered approach, ensuring robust performance, scalability, and maintainability across all system components.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369701"/>
            <a:ext cx="793790" cy="15338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46290" y="2528411"/>
            <a:ext cx="267473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Presentation Layer (Frontend)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746290" y="2871668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React.js based user interface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746290" y="3181231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Login, grievance submission and dashboards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746290" y="3490793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Communicates with backend using REST APIs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03583"/>
            <a:ext cx="793790" cy="21530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46290" y="4062293"/>
            <a:ext cx="37724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Layer (Backend – Spring Boot)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746290" y="4405551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 Layer: CORS &amp; JWT Security configuration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746290" y="4715113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Controller Layer: Auth, Grievance &amp; Feedback APIs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746290" y="5024676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 Layer: Business logic handling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746290" y="5334238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Repository Layer: Database operations (JPA)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746290" y="5643801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Entity Layer: Maps Java objects to DB tables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6590"/>
            <a:ext cx="793790" cy="122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46290" y="621530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Layer (Database)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746290" y="6558558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746290" y="6868120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Stores users, grievances, feedback and status data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830"/>
            <a:ext cx="559105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Sprint Planning &amp; Development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39503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structured approach to developing Resolve IT, ensuring efficient progress and timely delivery of all key features across five focused sprints.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48426"/>
            <a:ext cx="4241721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328338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Foundation &amp; Setup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52500" y="3626644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 Setup &amp; Environment Configuration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52500" y="3936206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 Schema Design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52500" y="4245769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API Architecture Definition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221" y="2410301"/>
            <a:ext cx="424184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52931" y="3045262"/>
            <a:ext cx="203977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 Development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352931" y="3388519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Initial Frontend Development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352931" y="3698081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Authentication Module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52931" y="4007644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 UI Implementation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771" y="2172176"/>
            <a:ext cx="4241721" cy="1143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3481" y="280713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Features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9753481" y="3150394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Grievance &amp; Feedback Form Creation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753481" y="3459956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 Integration for Forms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753481" y="3769519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Flow &amp; Storage Implementation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93519"/>
            <a:ext cx="4241721" cy="1143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2500" y="592847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Quality Assurance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952500" y="6271736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 System Testing (Unit, Integration)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52500" y="6581299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Bug Identification &amp; Resolution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52500" y="6890861"/>
            <a:ext cx="39243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Preparation for Deployment Environment</a:t>
            </a:r>
            <a:endParaRPr lang="en-US" sz="12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221" y="5055394"/>
            <a:ext cx="4241840" cy="1143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52931" y="56903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Launch &amp; Deployment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5352931" y="6033611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User Acceptance Testing (UAT)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352931" y="6343174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Documentation &amp; User Guides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352931" y="6652736"/>
            <a:ext cx="39244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 Deployment &amp; Launch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91292-3747-1E9B-3C28-EB791D1CC14A}"/>
              </a:ext>
            </a:extLst>
          </p:cNvPr>
          <p:cNvSpPr txBox="1"/>
          <p:nvPr/>
        </p:nvSpPr>
        <p:spPr>
          <a:xfrm>
            <a:off x="1072896" y="693639"/>
            <a:ext cx="7315200" cy="671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200" b="1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USECASE DIAGRAM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36A8E-390A-8514-D7A6-CB5E4A0C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32" y="2140627"/>
            <a:ext cx="6449568" cy="3948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5E1BBD-A4CC-AF43-8F16-4C4D1FDCD6CF}"/>
              </a:ext>
            </a:extLst>
          </p:cNvPr>
          <p:cNvSpPr txBox="1"/>
          <p:nvPr/>
        </p:nvSpPr>
        <p:spPr>
          <a:xfrm>
            <a:off x="7668768" y="2635549"/>
            <a:ext cx="60960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Use Case Diagram outlines the interactions between various actors (Submit Complaint/Feedback, Admin, Department Head) and the </a:t>
            </a:r>
            <a:r>
              <a:rPr lang="en-US" sz="18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ResolveIT</a:t>
            </a:r>
            <a:r>
              <a:rPr lang="en-US" sz="1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System. It details key use cases such as managing complaints, assigning resolutions, and accessing databases for viewing and updating statuses.</a:t>
            </a:r>
          </a:p>
          <a:p>
            <a:pPr marL="0" indent="0">
              <a:lnSpc>
                <a:spcPts val="2500"/>
              </a:lnSpc>
              <a:buNone/>
            </a:pPr>
            <a:endParaRPr lang="en-US" dirty="0">
              <a:solidFill>
                <a:srgbClr val="454240"/>
              </a:solidFill>
              <a:latin typeface="DM Sans" pitchFamily="34" charset="0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800" dirty="0">
              <a:solidFill>
                <a:srgbClr val="454240"/>
              </a:solidFill>
              <a:latin typeface="DM Sans" pitchFamily="34" charset="0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13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CA5B8D-E681-F4F0-D9A3-584DED21992D}"/>
              </a:ext>
            </a:extLst>
          </p:cNvPr>
          <p:cNvSpPr txBox="1"/>
          <p:nvPr/>
        </p:nvSpPr>
        <p:spPr>
          <a:xfrm>
            <a:off x="841248" y="657063"/>
            <a:ext cx="7315200" cy="671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WORKFLOW  DIAGRAM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F1474-C97B-135A-68ED-C6B6EBCF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56" y="1426464"/>
            <a:ext cx="5547360" cy="6242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DDFCDC-C9E8-D00E-52D0-AAECE469FF46}"/>
              </a:ext>
            </a:extLst>
          </p:cNvPr>
          <p:cNvSpPr txBox="1"/>
          <p:nvPr/>
        </p:nvSpPr>
        <p:spPr>
          <a:xfrm>
            <a:off x="6766560" y="3274794"/>
            <a:ext cx="6388608" cy="2317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diagram illustrates the comprehensive workflow of the </a:t>
            </a:r>
            <a:r>
              <a:rPr lang="en-US" sz="18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ResolveIT</a:t>
            </a:r>
            <a:r>
              <a:rPr lang="en-US" sz="1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system, from user submission to complaint resolution and subsequent analytics. It highlights the categorization, priority assignment, and feedback loops essential for continuous improvement.</a:t>
            </a:r>
          </a:p>
          <a:p>
            <a:pPr marL="0" indent="0" algn="l">
              <a:lnSpc>
                <a:spcPts val="2450"/>
              </a:lnSpc>
              <a:buNone/>
            </a:pPr>
            <a:endParaRPr lang="en-US" dirty="0">
              <a:solidFill>
                <a:srgbClr val="454240"/>
              </a:solidFill>
              <a:latin typeface="DM Sans" pitchFamily="34" charset="0"/>
            </a:endParaRPr>
          </a:p>
          <a:p>
            <a:pPr marL="0" indent="0" algn="l">
              <a:lnSpc>
                <a:spcPts val="2450"/>
              </a:lnSpc>
              <a:buNone/>
            </a:pP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B1740-8FE9-23DE-7008-C174489C6395}"/>
              </a:ext>
            </a:extLst>
          </p:cNvPr>
          <p:cNvSpPr txBox="1"/>
          <p:nvPr/>
        </p:nvSpPr>
        <p:spPr>
          <a:xfrm>
            <a:off x="6766560" y="2578608"/>
            <a:ext cx="7315200" cy="455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8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ResolveIT</a:t>
            </a:r>
            <a:r>
              <a:rPr lang="en-US" sz="1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Workflow Diagram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5668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105" y="512326"/>
            <a:ext cx="5182314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Advantages of Resolve IT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2105" y="1467088"/>
            <a:ext cx="1332618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 IT offers numerous benefits, transforming grievance management into a strategic asset for healthcare providers.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2105" y="2184321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ADD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179" y="2393394"/>
            <a:ext cx="305907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Faster Grievance Registration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1179" y="2870716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process for quick complaint submission.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2105" y="3564136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ADD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1179" y="3773210"/>
            <a:ext cx="274712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Enhanced Communication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1179" y="4250531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Better interaction between patients and staff.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2105" y="4943951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AD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179" y="5153025"/>
            <a:ext cx="301061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Paperwork &amp; Errors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1179" y="5630347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system minimizes manual tasks.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2105" y="6323767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ADD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179" y="6532840"/>
            <a:ext cx="264664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Data Management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1179" y="7010162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Ensures privacy and integrity of patient information.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50110" y="2184321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0EE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9184" y="2393394"/>
            <a:ext cx="247816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Transparency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9184" y="2870716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visibility into issue resolution status.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50110" y="3564136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0EE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9184" y="3773210"/>
            <a:ext cx="298251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Efficient Complaint Tracking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59184" y="4250531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Hospital management can monitor issues effectively.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50110" y="4943951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0EE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9184" y="5153025"/>
            <a:ext cx="306359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Increased Patient Satisfaction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59184" y="5630347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Leads to higher quality service and trust.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550110" y="6323767"/>
            <a:ext cx="6435804" cy="1193602"/>
          </a:xfrm>
          <a:prstGeom prst="roundRect">
            <a:avLst>
              <a:gd name="adj" fmla="val 655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0EE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9184" y="6532840"/>
            <a:ext cx="266164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Improvement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59184" y="7010162"/>
            <a:ext cx="6017657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records support data-driven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590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Thank You</a:t>
            </a:r>
            <a:endParaRPr lang="en-US" sz="8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1430</Words>
  <Application>Microsoft Office PowerPoint</Application>
  <PresentationFormat>Custom</PresentationFormat>
  <Paragraphs>223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DM Sans</vt:lpstr>
      <vt:lpstr>Lato</vt:lpstr>
      <vt:lpstr>Gelasio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ayinavillijyothisurekha@outlook.com</cp:lastModifiedBy>
  <cp:revision>2</cp:revision>
  <dcterms:created xsi:type="dcterms:W3CDTF">2025-12-16T10:47:44Z</dcterms:created>
  <dcterms:modified xsi:type="dcterms:W3CDTF">2026-01-06T13:30:14Z</dcterms:modified>
</cp:coreProperties>
</file>